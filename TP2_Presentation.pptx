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48463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Deux machines virtuelles en réseau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 flipV="1">
            <a:off x="6492240" y="1920240"/>
            <a:ext cx="731520" cy="182880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1920240"/>
            <a:ext cx="822960" cy="182880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0" y="3749040"/>
            <a:ext cx="15544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6" name="noeud passerelle"/>
          <p:cNvSpPr/>
          <p:nvPr/>
        </p:nvSpPr>
        <p:spPr>
          <a:xfrm>
            <a:off x="6675120" y="137160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passerelle</a:t>
            </a:r>
            <a:endParaRPr lang="en-US" sz="1300" dirty="0"/>
          </a:p>
        </p:txBody>
      </p:sp>
      <p:sp>
        <p:nvSpPr>
          <p:cNvPr id="7" name="noeud web"/>
          <p:cNvSpPr/>
          <p:nvPr/>
        </p:nvSpPr>
        <p:spPr>
          <a:xfrm>
            <a:off x="5943600" y="320040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web</a:t>
            </a:r>
            <a:endParaRPr lang="en-US" sz="1300" dirty="0"/>
          </a:p>
        </p:txBody>
      </p:sp>
      <p:sp>
        <p:nvSpPr>
          <p:cNvPr id="8" name="noeud client"/>
          <p:cNvSpPr/>
          <p:nvPr/>
        </p:nvSpPr>
        <p:spPr>
          <a:xfrm>
            <a:off x="7498080" y="320040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client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926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TP 2 · Introduction au Cloud · L3 SI (BDGL)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74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TRA BI TRA Christian David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Kouadio Yao Boffouo Siedou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297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27-28 octobre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Plan de la présentation</a:t>
            </a:r>
            <a:endParaRPr lang="en-US" sz="3200" dirty="0"/>
          </a:p>
        </p:txBody>
      </p:sp>
      <p:sp>
        <p:nvSpPr>
          <p:cNvPr id="3" name="numero 1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1280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Termes importants</a:t>
            </a:r>
            <a:endParaRPr lang="en-US" sz="1600" dirty="0"/>
          </a:p>
        </p:txBody>
      </p:sp>
      <p:sp>
        <p:nvSpPr>
          <p:cNvPr id="5" name="numero 2"/>
          <p:cNvSpPr/>
          <p:nvPr/>
        </p:nvSpPr>
        <p:spPr>
          <a:xfrm>
            <a:off x="457200" y="19385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9385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Architecture du TP</a:t>
            </a:r>
            <a:endParaRPr lang="en-US" sz="1600" dirty="0"/>
          </a:p>
        </p:txBody>
      </p:sp>
      <p:sp>
        <p:nvSpPr>
          <p:cNvPr id="7" name="numero 3"/>
          <p:cNvSpPr/>
          <p:nvPr/>
        </p:nvSpPr>
        <p:spPr>
          <a:xfrm>
            <a:off x="457200" y="25968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5968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Partie 1 : cloner</a:t>
            </a:r>
            <a:endParaRPr lang="en-US" sz="1600" dirty="0"/>
          </a:p>
        </p:txBody>
      </p:sp>
      <p:sp>
        <p:nvSpPr>
          <p:cNvPr id="9" name="numero 4"/>
          <p:cNvSpPr/>
          <p:nvPr/>
        </p:nvSpPr>
        <p:spPr>
          <a:xfrm>
            <a:off x="457200" y="325526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2552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Durée : cloner ou installer</a:t>
            </a:r>
            <a:endParaRPr lang="en-US" sz="1600" dirty="0"/>
          </a:p>
        </p:txBody>
      </p:sp>
      <p:sp>
        <p:nvSpPr>
          <p:cNvPr id="11" name="numero 5"/>
          <p:cNvSpPr/>
          <p:nvPr/>
        </p:nvSpPr>
        <p:spPr>
          <a:xfrm>
            <a:off x="457200" y="39136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9136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Partie 2 : réseau</a:t>
            </a:r>
            <a:endParaRPr lang="en-US" sz="1600" dirty="0"/>
          </a:p>
        </p:txBody>
      </p:sp>
      <p:sp>
        <p:nvSpPr>
          <p:cNvPr id="13" name="numero 6"/>
          <p:cNvSpPr/>
          <p:nvPr/>
        </p:nvSpPr>
        <p:spPr>
          <a:xfrm>
            <a:off x="466344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1280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Partie 3 : Nginx et pare-feu</a:t>
            </a:r>
            <a:endParaRPr lang="en-US" sz="1600" dirty="0"/>
          </a:p>
        </p:txBody>
      </p:sp>
      <p:sp>
        <p:nvSpPr>
          <p:cNvPr id="15" name="numero 7"/>
          <p:cNvSpPr/>
          <p:nvPr/>
        </p:nvSpPr>
        <p:spPr>
          <a:xfrm>
            <a:off x="4663440" y="19385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19385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Partie 4 : mesures et nettoyage</a:t>
            </a:r>
            <a:endParaRPr lang="en-US" sz="1600" dirty="0"/>
          </a:p>
        </p:txBody>
      </p:sp>
      <p:sp>
        <p:nvSpPr>
          <p:cNvPr id="17" name="numero 8"/>
          <p:cNvSpPr/>
          <p:nvPr/>
        </p:nvSpPr>
        <p:spPr>
          <a:xfrm>
            <a:off x="4663440" y="25968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25968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Difficultés rencontrées</a:t>
            </a:r>
            <a:endParaRPr lang="en-US" sz="1600" dirty="0"/>
          </a:p>
        </p:txBody>
      </p:sp>
      <p:sp>
        <p:nvSpPr>
          <p:cNvPr id="19" name="numero 9"/>
          <p:cNvSpPr/>
          <p:nvPr/>
        </p:nvSpPr>
        <p:spPr>
          <a:xfrm>
            <a:off x="4663440" y="325526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9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32552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Du TP au cloud</a:t>
            </a:r>
            <a:endParaRPr lang="en-US" sz="1600" dirty="0"/>
          </a:p>
        </p:txBody>
      </p:sp>
      <p:sp>
        <p:nvSpPr>
          <p:cNvPr id="21" name="numero 10"/>
          <p:cNvSpPr/>
          <p:nvPr/>
        </p:nvSpPr>
        <p:spPr>
          <a:xfrm>
            <a:off x="4663440" y="39136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10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39136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Conclusion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Termes importants (1/2)</a:t>
            </a:r>
            <a:endParaRPr lang="en-US" sz="3200" dirty="0"/>
          </a:p>
        </p:txBody>
      </p:sp>
      <p:sp>
        <p:nvSpPr>
          <p:cNvPr id="3" name="terme 1"/>
          <p:cNvSpPr/>
          <p:nvPr/>
        </p:nvSpPr>
        <p:spPr>
          <a:xfrm>
            <a:off x="457200" y="128016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5331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Image (AMI)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Modèle figé d'une machine, pour lancer autant d'instances que l'on veut.</a:t>
            </a:r>
            <a:endParaRPr lang="en-US" sz="1400" dirty="0"/>
          </a:p>
        </p:txBody>
      </p:sp>
      <p:sp>
        <p:nvSpPr>
          <p:cNvPr id="5" name="terme 2"/>
          <p:cNvSpPr/>
          <p:nvPr/>
        </p:nvSpPr>
        <p:spPr>
          <a:xfrm>
            <a:off x="4663440" y="128016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00600" y="135331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Clone / instance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Copie créée depuis l'image. Ici : un clone complet, avec ses propres données.</a:t>
            </a:r>
            <a:endParaRPr lang="en-US" sz="1400" dirty="0"/>
          </a:p>
        </p:txBody>
      </p:sp>
      <p:sp>
        <p:nvSpPr>
          <p:cNvPr id="7" name="terme 3"/>
          <p:cNvSpPr/>
          <p:nvPr/>
        </p:nvSpPr>
        <p:spPr>
          <a:xfrm>
            <a:off x="457200" y="237744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4505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Hyperviseur de type 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Logiciel qui fait tourner des VM sur un système hôte (VirtualBox sur Windows).</a:t>
            </a:r>
            <a:endParaRPr lang="en-US" sz="1400" dirty="0"/>
          </a:p>
        </p:txBody>
      </p:sp>
      <p:sp>
        <p:nvSpPr>
          <p:cNvPr id="9" name="terme 4"/>
          <p:cNvSpPr/>
          <p:nvPr/>
        </p:nvSpPr>
        <p:spPr>
          <a:xfrm>
            <a:off x="4663440" y="237744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24505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Réseau NAT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Réseau privé virtuel : les VM se voient et sortent vers Internet, sans être joignables.</a:t>
            </a:r>
            <a:endParaRPr lang="en-US" sz="1400" dirty="0"/>
          </a:p>
        </p:txBody>
      </p:sp>
      <p:sp>
        <p:nvSpPr>
          <p:cNvPr id="11" name="terme 5"/>
          <p:cNvSpPr/>
          <p:nvPr/>
        </p:nvSpPr>
        <p:spPr>
          <a:xfrm>
            <a:off x="457200" y="347472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54787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Sous-réseau /24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Les 3 premiers nombres désignent le réseau : 10.10.0.x, 254 adresses utilisables.</a:t>
            </a:r>
            <a:endParaRPr lang="en-US" sz="1400" dirty="0"/>
          </a:p>
        </p:txBody>
      </p:sp>
      <p:sp>
        <p:nvSpPr>
          <p:cNvPr id="13" name="terme 6"/>
          <p:cNvSpPr/>
          <p:nvPr/>
        </p:nvSpPr>
        <p:spPr>
          <a:xfrm>
            <a:off x="4663440" y="347472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354787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Passerelle par défaut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Routeur de sortie vers les autres réseaux (ici 10.10.0.1).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Termes importants (2/2)</a:t>
            </a:r>
            <a:endParaRPr lang="en-US" sz="3200" dirty="0"/>
          </a:p>
        </p:txBody>
      </p:sp>
      <p:sp>
        <p:nvSpPr>
          <p:cNvPr id="3" name="terme 1"/>
          <p:cNvSpPr/>
          <p:nvPr/>
        </p:nvSpPr>
        <p:spPr>
          <a:xfrm>
            <a:off x="457200" y="128016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5331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Redirection de port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Envoie ce qui arrive sur un port de l'hôte vers un port d'une VM (2222 vers 22).</a:t>
            </a:r>
            <a:endParaRPr lang="en-US" sz="1400" dirty="0"/>
          </a:p>
        </p:txBody>
      </p:sp>
      <p:sp>
        <p:nvSpPr>
          <p:cNvPr id="5" name="terme 2"/>
          <p:cNvSpPr/>
          <p:nvPr/>
        </p:nvSpPr>
        <p:spPr>
          <a:xfrm>
            <a:off x="4663440" y="128016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00600" y="135331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Pare-feu ufw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Filtre le trafic par port. Dans le cloud : groupe de sécurité, hors de la VM.</a:t>
            </a:r>
            <a:endParaRPr lang="en-US" sz="1400" dirty="0"/>
          </a:p>
        </p:txBody>
      </p:sp>
      <p:sp>
        <p:nvSpPr>
          <p:cNvPr id="7" name="terme 3"/>
          <p:cNvSpPr/>
          <p:nvPr/>
        </p:nvSpPr>
        <p:spPr>
          <a:xfrm>
            <a:off x="457200" y="237744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4505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cloud-init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Personnalise une instance au premier démarrage : nom, clés, réseau.</a:t>
            </a:r>
            <a:endParaRPr lang="en-US" sz="1400" dirty="0"/>
          </a:p>
        </p:txBody>
      </p:sp>
      <p:sp>
        <p:nvSpPr>
          <p:cNvPr id="9" name="terme 4"/>
          <p:cNvSpPr/>
          <p:nvPr/>
        </p:nvSpPr>
        <p:spPr>
          <a:xfrm>
            <a:off x="4663440" y="237744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24505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Adresse MAC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Identifiant d'une carte réseau. Un clone en reçoit une nouvelle.</a:t>
            </a:r>
            <a:endParaRPr lang="en-US" sz="1400" dirty="0"/>
          </a:p>
        </p:txBody>
      </p:sp>
      <p:sp>
        <p:nvSpPr>
          <p:cNvPr id="11" name="terme 5"/>
          <p:cNvSpPr/>
          <p:nvPr/>
        </p:nvSpPr>
        <p:spPr>
          <a:xfrm>
            <a:off x="457200" y="347472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54787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Disque dynamique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fichier grossit avec les données : 25 Go annoncés, 6,30 Go réels.</a:t>
            </a:r>
            <a:endParaRPr lang="en-US" sz="1400" dirty="0"/>
          </a:p>
        </p:txBody>
      </p:sp>
      <p:sp>
        <p:nvSpPr>
          <p:cNvPr id="13" name="terme 6"/>
          <p:cNvSpPr/>
          <p:nvPr/>
        </p:nvSpPr>
        <p:spPr>
          <a:xfrm>
            <a:off x="4663440" y="347472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354787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Mode headless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VM démarrée sans fenêtre, comme un serveur de centre de données.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Architecture du TP</a:t>
            </a:r>
            <a:endParaRPr lang="en-US" sz="3200" dirty="0"/>
          </a:p>
        </p:txBody>
      </p:sp>
      <p:sp>
        <p:nvSpPr>
          <p:cNvPr id="3" name="reseau tp-cloud"/>
          <p:cNvSpPr/>
          <p:nvPr/>
        </p:nvSpPr>
        <p:spPr>
          <a:xfrm>
            <a:off x="3291840" y="1280160"/>
            <a:ext cx="5394960" cy="329184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520440" y="1371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Réseau privé tp-cloud · 10.10.0.0/24 · sans DHCP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flipV="1">
            <a:off x="2468880" y="2560320"/>
            <a:ext cx="1188720" cy="9144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2834640"/>
            <a:ext cx="1188720" cy="100584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0" y="2560320"/>
            <a:ext cx="1463040" cy="6400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5212080" y="3200400"/>
            <a:ext cx="1463040" cy="6400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9" name="noeud web"/>
          <p:cNvSpPr/>
          <p:nvPr/>
        </p:nvSpPr>
        <p:spPr>
          <a:xfrm>
            <a:off x="3657600" y="2103120"/>
            <a:ext cx="155448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web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10.10.0.10</a:t>
            </a:r>
            <a:endParaRPr lang="en-US" sz="1400" dirty="0"/>
          </a:p>
        </p:txBody>
      </p:sp>
      <p:sp>
        <p:nvSpPr>
          <p:cNvPr id="10" name="noeud client"/>
          <p:cNvSpPr/>
          <p:nvPr/>
        </p:nvSpPr>
        <p:spPr>
          <a:xfrm>
            <a:off x="3657600" y="3383280"/>
            <a:ext cx="155448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client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10.10.0.20</a:t>
            </a:r>
            <a:endParaRPr lang="en-US" sz="1400" dirty="0"/>
          </a:p>
        </p:txBody>
      </p:sp>
      <p:sp>
        <p:nvSpPr>
          <p:cNvPr id="11" name="passerelle"/>
          <p:cNvSpPr/>
          <p:nvPr/>
        </p:nvSpPr>
        <p:spPr>
          <a:xfrm>
            <a:off x="6675120" y="2743200"/>
            <a:ext cx="173736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Passerelle NAT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10.10.0.1</a:t>
            </a:r>
            <a:endParaRPr lang="en-US" sz="1400" dirty="0"/>
          </a:p>
        </p:txBody>
      </p:sp>
      <p:sp>
        <p:nvSpPr>
          <p:cNvPr id="12" name="hote"/>
          <p:cNvSpPr/>
          <p:nvPr/>
        </p:nvSpPr>
        <p:spPr>
          <a:xfrm>
            <a:off x="457200" y="2011680"/>
            <a:ext cx="2011680" cy="1463040"/>
          </a:xfrm>
          <a:prstGeom prst="roundRect">
            <a:avLst>
              <a:gd name="adj" fmla="val 6250"/>
            </a:avLst>
          </a:prstGeom>
          <a:solidFill>
            <a:schemeClr val="tx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PC hôte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Windows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127.0.0.1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657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2222 → SSH web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8080 → HTTP web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2223 → SSH client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Sortie vers Internet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Partie 1 · Cloner au lieu d'installer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101,5 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pour cloner web (Measure-Command)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20 fois plus rapide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926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 l'installation d'Ubuntu (≈ 35 à 40 min, estimé)</a:t>
            </a:r>
            <a:endParaRPr lang="en-US" sz="1400" dirty="0"/>
          </a:p>
        </p:txBody>
      </p:sp>
      <p:sp>
        <p:nvSpPr>
          <p:cNvPr id="7" name="incident netplan"/>
          <p:cNvSpPr/>
          <p:nvPr/>
        </p:nvSpPr>
        <p:spPr>
          <a:xfrm>
            <a:off x="457200" y="3520440"/>
            <a:ext cx="39319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6118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Incident : netplan ne trouvait pas la carte, car l'ancien fichier la liait à l'ancienne adresse MAC. Solution : le renommer en .bak.</a:t>
            </a:r>
            <a:endParaRPr lang="en-US" sz="1400" dirty="0"/>
          </a:p>
        </p:txBody>
      </p:sp>
      <p:pic>
        <p:nvPicPr>
          <p:cNvPr id="9" name="Capture SSH vers web" descr="Capture SSH vers we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371600"/>
            <a:ext cx="4023360" cy="184343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663440" y="330647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Clonage de web : 101,5 s (Measure-Command)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Preuve · clonage de web</a:t>
            </a:r>
            <a:endParaRPr lang="en-US" sz="3200" dirty="0"/>
          </a:p>
        </p:txBody>
      </p:sp>
      <p:pic>
        <p:nvPicPr>
          <p:cNvPr id="3" name="Preuve · clonage de web" descr="Preuve · clonage de we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7680960" cy="35192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79943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Commande Measure-Command et résultat : TotalSeconds = 101,5 ; puis clonage de client, modifyvm et list vms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Preuve · réseau tp-cloud</a:t>
            </a:r>
            <a:endParaRPr lang="en-US" sz="3200" dirty="0"/>
          </a:p>
        </p:txBody>
      </p:sp>
      <p:pic>
        <p:nvPicPr>
          <p:cNvPr id="3" name="Preuve · réseau tp-cloud" descr="Preuve · réseau tp-clou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28895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1696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natnetwork list : réseau 10.10.0.0/24, DHCP désactivé, 3 redirections de port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Durée : cloner ou installer ?</a:t>
            </a:r>
            <a:endParaRPr lang="en-US" sz="3200" dirty="0"/>
          </a:p>
        </p:txBody>
      </p:sp>
      <p:sp>
        <p:nvSpPr>
          <p:cNvPr id="3" name="duree 1"/>
          <p:cNvSpPr/>
          <p:nvPr/>
        </p:nvSpPr>
        <p:spPr>
          <a:xfrm>
            <a:off x="457200" y="137160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101,5 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clonage de web, mesuré avec Measure-Command</a:t>
            </a:r>
            <a:endParaRPr lang="en-US" sz="1400" dirty="0"/>
          </a:p>
        </p:txBody>
      </p:sp>
      <p:sp>
        <p:nvSpPr>
          <p:cNvPr id="6" name="duree 2"/>
          <p:cNvSpPr/>
          <p:nvPr/>
        </p:nvSpPr>
        <p:spPr>
          <a:xfrm>
            <a:off x="3291840" y="137160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554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à 40 min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2860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installation d'Ubuntu au TP1, estimée à partir de l'heure des captures</a:t>
            </a:r>
            <a:endParaRPr lang="en-US" sz="1400" dirty="0"/>
          </a:p>
        </p:txBody>
      </p:sp>
      <p:sp>
        <p:nvSpPr>
          <p:cNvPr id="9" name="duree 3"/>
          <p:cNvSpPr/>
          <p:nvPr/>
        </p:nvSpPr>
        <p:spPr>
          <a:xfrm>
            <a:off x="6126480" y="137160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554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2860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attente de curl (-m 5) quand le port 80 est fermé</a:t>
            </a:r>
            <a:endParaRPr lang="en-US" sz="1400" dirty="0"/>
          </a:p>
        </p:txBody>
      </p:sp>
      <p:sp>
        <p:nvSpPr>
          <p:cNvPr id="12" name="conclusion duree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  <p:txBody>
          <a:bodyPr wrap="square" lIns="2540" tIns="2540" rIns="2540" bIns="254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Cloner à partir d'une image est environ 20 fois plus rapide que d'installer.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Partie 2 · Qui joint qui ?</a:t>
            </a:r>
            <a:endParaRPr lang="en-US" sz="3200" dirty="0"/>
          </a:p>
        </p:txBody>
      </p:sp>
      <p:sp>
        <p:nvSpPr>
          <p:cNvPr id="3" name="carte 1"/>
          <p:cNvSpPr/>
          <p:nvPr/>
        </p:nvSpPr>
        <p:spPr>
          <a:xfrm>
            <a:off x="457200" y="132588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0,77 ms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48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ping client → passerelle 10.10.0.1</a:t>
            </a:r>
            <a:endParaRPr lang="en-US" sz="1400" dirty="0"/>
          </a:p>
        </p:txBody>
      </p:sp>
      <p:sp>
        <p:nvSpPr>
          <p:cNvPr id="6" name="carte 2"/>
          <p:cNvSpPr/>
          <p:nvPr/>
        </p:nvSpPr>
        <p:spPr>
          <a:xfrm>
            <a:off x="4663440" y="132588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463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2,74 ms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2148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ping client → web (même PC, réseau virtuel)</a:t>
            </a:r>
            <a:endParaRPr lang="en-US" sz="1400" dirty="0"/>
          </a:p>
        </p:txBody>
      </p:sp>
      <p:sp>
        <p:nvSpPr>
          <p:cNvPr id="9" name="carte 3"/>
          <p:cNvSpPr/>
          <p:nvPr/>
        </p:nvSpPr>
        <p:spPr>
          <a:xfrm>
            <a:off x="457200" y="292608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063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11,5 ms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749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ping client → Internet (1.1.1.1)</a:t>
            </a:r>
            <a:endParaRPr lang="en-US" sz="1400" dirty="0"/>
          </a:p>
        </p:txBody>
      </p:sp>
      <p:sp>
        <p:nvSpPr>
          <p:cNvPr id="12" name="carte 4"/>
          <p:cNvSpPr/>
          <p:nvPr/>
        </p:nvSpPr>
        <p:spPr>
          <a:xfrm>
            <a:off x="4663440" y="292608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063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 perdus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749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ping Windows → web : réseau privé, aucune route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5720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L'hôte n'atteint web que par les ports redirigés (SSH 2222, HTTP 8080).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Preuve · client joint web</a:t>
            </a:r>
            <a:endParaRPr lang="en-US" sz="3200" dirty="0"/>
          </a:p>
        </p:txBody>
      </p:sp>
      <p:pic>
        <p:nvPicPr>
          <p:cNvPr id="3" name="Preuve · client joint web" descr="Preuve · client joint we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26933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97348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ping 10.10.0.10 : 4 réponses sur 4, 0 % de perte, temps moyen 2,738 ms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Preuve · depuis Windows</a:t>
            </a:r>
            <a:endParaRPr lang="en-US" sz="3200" dirty="0"/>
          </a:p>
        </p:txBody>
      </p:sp>
      <p:pic>
        <p:nvPicPr>
          <p:cNvPr id="3" name="Preuve · depuis Windows" descr="Preuve · depuis Window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344146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721629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ping vers 10.10.0.10 : 100 % de perte, mais ssh -p 2222 atteint web grâce à la redirection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Partie 3 · Nginx et pare-feu ufw</a:t>
            </a:r>
            <a:endParaRPr lang="en-US" sz="3200" dirty="0"/>
          </a:p>
        </p:txBody>
      </p:sp>
      <p:pic>
        <p:nvPicPr>
          <p:cNvPr id="3" name="curl avec port 80 fermé" descr="curl avec port 80 ferm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4206240" cy="112421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541533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Port 80 fermé : curl code 28, délai dépassé (paquets ignorés)</a:t>
            </a:r>
            <a:endParaRPr lang="en-US" sz="1200" dirty="0"/>
          </a:p>
        </p:txBody>
      </p:sp>
      <p:pic>
        <p:nvPicPr>
          <p:cNvPr id="5" name="page affichée" descr="page affiché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0"/>
            <a:ext cx="3749040" cy="265317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937760" y="1728357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Port 80 ouvert : la page s'affiche sur 127.0.0.1:8080</a:t>
            </a:r>
            <a:endParaRPr lang="en-US" sz="1200" dirty="0"/>
          </a:p>
        </p:txBody>
      </p:sp>
      <p:sp>
        <p:nvSpPr>
          <p:cNvPr id="7" name="carte ufw"/>
          <p:cNvSpPr/>
          <p:nvPr/>
        </p:nvSpPr>
        <p:spPr>
          <a:xfrm>
            <a:off x="4937760" y="2423160"/>
            <a:ext cx="3749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120640" y="25146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SSH autorisé avant ufw enable, sinon l'accès à web est perdu.</a:t>
            </a:r>
            <a:endParaRPr lang="en-US" sz="1400" dirty="0"/>
          </a:p>
        </p:txBody>
      </p:sp>
      <p:sp>
        <p:nvSpPr>
          <p:cNvPr id="9" name="carte nginx"/>
          <p:cNvSpPr/>
          <p:nvPr/>
        </p:nvSpPr>
        <p:spPr>
          <a:xfrm>
            <a:off x="4937760" y="3611880"/>
            <a:ext cx="3749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120640" y="37033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Nginx écoute sur 0.0.0.0:80 et [::]:80 : c'est ufw qui décide qui entre.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Preuve · port 80 fermé</a:t>
            </a:r>
            <a:endParaRPr lang="en-US" sz="3200" dirty="0"/>
          </a:p>
        </p:txBody>
      </p:sp>
      <p:pic>
        <p:nvPicPr>
          <p:cNvPr id="3" name="Preuve · port 80 fermé" descr="Preuve · port 80 ferm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219954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4797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curl : Connection timed out after 5002 ms, code retour 28 (le pare-feu ignore les paquets)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Preuve · port 80 rouvert</a:t>
            </a:r>
            <a:endParaRPr lang="en-US" sz="3200" dirty="0"/>
          </a:p>
        </p:txBody>
      </p:sp>
      <p:pic>
        <p:nvPicPr>
          <p:cNvPr id="3" name="Preuve · port 80 rouvert" descr="Preuve · port 80 rouve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69577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975935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ufw allow Nginx HTTP puis curl renvoie la page de web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Partie 4 · Ce que voit la VM, ce que paie l'hôte</a:t>
            </a:r>
            <a:endParaRPr lang="en-US" sz="3200" dirty="0"/>
          </a:p>
        </p:txBody>
      </p:sp>
      <p:sp>
        <p:nvSpPr>
          <p:cNvPr id="3" name="carte 1"/>
          <p:cNvSpPr/>
          <p:nvPr/>
        </p:nvSpPr>
        <p:spPr>
          <a:xfrm>
            <a:off x="457200" y="137160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956 Mi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RAM vue par web (1024 Mo configurés)</a:t>
            </a:r>
            <a:endParaRPr lang="en-US" sz="1400" dirty="0"/>
          </a:p>
        </p:txBody>
      </p:sp>
      <p:sp>
        <p:nvSpPr>
          <p:cNvPr id="6" name="carte 2"/>
          <p:cNvSpPr/>
          <p:nvPr/>
        </p:nvSpPr>
        <p:spPr>
          <a:xfrm>
            <a:off x="3291840" y="137160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554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1158 Mo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286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consommés sur l'hôte par web (client : 781 Mo)</a:t>
            </a:r>
            <a:endParaRPr lang="en-US" sz="1400" dirty="0"/>
          </a:p>
        </p:txBody>
      </p:sp>
      <p:sp>
        <p:nvSpPr>
          <p:cNvPr id="9" name="carte 3"/>
          <p:cNvSpPr/>
          <p:nvPr/>
        </p:nvSpPr>
        <p:spPr>
          <a:xfrm>
            <a:off x="6126480" y="137160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554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6,30 Go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286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occupés par web.vdi pour un disque de 25 Go</a:t>
            </a:r>
            <a:endParaRPr lang="en-US" sz="1400" dirty="0"/>
          </a:p>
        </p:txBody>
      </p:sp>
      <p:sp>
        <p:nvSpPr>
          <p:cNvPr id="12" name="bilan mesures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  <p:txBody>
          <a:bodyPr wrap="square" lIns="2540" tIns="2540" rIns="2540" bIns="254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Mémoire prise au fur et à mesure, disque dynamique : on ne consomme que ce qui est utilisé.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Preuve · mesures dans web</a:t>
            </a:r>
            <a:endParaRPr lang="en-US" sz="3200" dirty="0"/>
          </a:p>
        </p:txBody>
      </p:sp>
      <p:pic>
        <p:nvPicPr>
          <p:cNvPr id="3" name="Preuve · mesures dans web" descr="Preuve · mesures dans we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14813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7614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free -h : 956 Mi de RAM ; df -h : 12 Go ; nproc : 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Preuve · nettoyage</a:t>
            </a:r>
            <a:endParaRPr lang="en-US" sz="3200" dirty="0"/>
          </a:p>
        </p:txBody>
      </p:sp>
      <p:pic>
        <p:nvPicPr>
          <p:cNvPr id="3" name="Preuve · nettoyage" descr="Preuve · nettoy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5416" y="1188720"/>
            <a:ext cx="4773168" cy="352346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0362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poweroff, unregistervm --delete, natnetwork remove : seule ubuntu-srv reste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Difficultés rencontrées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2560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Problème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Cause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Solution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Touche hôte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Ctrl droite = touche hôte de VirtualBox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Ctrl gauche + C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netplan : interface introuvable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Ancien fichier lié à l'ancienne adresse MAC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 renommer en .bak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Ping vers web échoue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web était éteinte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 démarrer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Accents illisibles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Page sans encodage déclaré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meta charset utf-8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YAML refusé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Indentation et espaces mal placés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Retaper et vérifier avec cat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9 difficultés détaillées dans le compte rendu.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Du TP au cloud</a:t>
            </a:r>
            <a:endParaRPr lang="en-US" sz="3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3891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Commande du TP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Équivalent cloud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VBoxManage clonevm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Instance créée depuis une image (AMI)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natnetwork add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Réseau privé : VPC / sous-réseau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--port-forward-4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IP publique + règle entrante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ufw allow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Règle d'un groupe de sécurité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unregistervm --delete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Terminer l'instance (terminate)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Une VM arrêtée coûte encore (disque, IP publique) : seule la suppression arrête tout.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point 1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12801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web cloné en 101,5 s, personnalisé et relié dans un réseau privé</a:t>
            </a:r>
            <a:endParaRPr lang="en-US" sz="1600" dirty="0"/>
          </a:p>
        </p:txBody>
      </p:sp>
      <p:sp>
        <p:nvSpPr>
          <p:cNvPr id="5" name="point 2"/>
          <p:cNvSpPr/>
          <p:nvPr/>
        </p:nvSpPr>
        <p:spPr>
          <a:xfrm>
            <a:off x="457200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Page publiée avec Nginx ; pare-feu : code 28 port fermé, page affichée port ouvert</a:t>
            </a:r>
            <a:endParaRPr lang="en-US" sz="1600" dirty="0"/>
          </a:p>
        </p:txBody>
      </p:sp>
      <p:sp>
        <p:nvSpPr>
          <p:cNvPr id="7" name="point 3"/>
          <p:cNvSpPr/>
          <p:nvPr/>
        </p:nvSpPr>
        <p:spPr>
          <a:xfrm>
            <a:off x="457200" y="2834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834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Mesuré : 956 Mi vus contre 1158 Mo consommés ; 25 Go annoncés, 6,30 Go réels</a:t>
            </a:r>
            <a:endParaRPr lang="en-US" sz="1600" dirty="0"/>
          </a:p>
        </p:txBody>
      </p:sp>
      <p:sp>
        <p:nvSpPr>
          <p:cNvPr id="9" name="point 4"/>
          <p:cNvSpPr/>
          <p:nvPr/>
        </p:nvSpPr>
        <p:spPr>
          <a:xfrm>
            <a:off x="457200" y="3611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6118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Appris : vérifier une hypothèse avant d'agir, et bien lire les erreurs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Merci 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P Cloud">
  <a:themeElements>
    <a:clrScheme name="TP Cloud">
      <a:dk1>
        <a:srgbClr val="0B1F3A"/>
      </a:dk1>
      <a:lt1>
        <a:srgbClr val="FFFFFF"/>
      </a:lt1>
      <a:dk2>
        <a:srgbClr val="12355B"/>
      </a:dk2>
      <a:lt2>
        <a:srgbClr val="EEF4F8"/>
      </a:lt2>
      <a:accent1>
        <a:srgbClr val="00798C"/>
      </a:accent1>
      <a:accent2>
        <a:srgbClr val="E39A1B"/>
      </a:accent2>
      <a:accent3>
        <a:srgbClr val="C0392B"/>
      </a:accent3>
      <a:accent4>
        <a:srgbClr val="3D8B5F"/>
      </a:accent4>
      <a:accent5>
        <a:srgbClr val="5B7C99"/>
      </a:accent5>
      <a:accent6>
        <a:srgbClr val="8E6C8A"/>
      </a:accent6>
      <a:hlink>
        <a:srgbClr val="00798C"/>
      </a:hlink>
      <a:folHlink>
        <a:srgbClr val="5B7C99"/>
      </a:folHlink>
    </a:clrScheme>
    <a:fontScheme name="TP Clou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 2 - Deux machines virtuelles en réseau avec VirtualBox</dc:title>
  <dc:subject>PptxGenJS Presentation</dc:subject>
  <dc:creator>TRA BI TRA CHRISTIAN DAVID, KOUADIO BOFFOUO</dc:creator>
  <cp:lastModifiedBy>TRA BI TRA CHRISTIAN DAVID, KOUADIO BOFFOUO</cp:lastModifiedBy>
  <cp:revision>1</cp:revision>
  <dcterms:created xsi:type="dcterms:W3CDTF">2026-10-28T21:07:41Z</dcterms:created>
  <dcterms:modified xsi:type="dcterms:W3CDTF">2026-10-28T21:07:41Z</dcterms:modified>
</cp:coreProperties>
</file>